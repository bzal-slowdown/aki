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5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51434-2D2D-4E6F-84C8-CC609C661FA3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1D6F73-243D-40BA-8223-43EBBBBAE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38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42E7C-A944-47C3-8E53-80D8E7F211B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7E235-016F-C9B3-2A10-7C877F685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6F9F1F-0222-C9BA-8D36-4E687AF98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F96C85-B6E0-2FF2-2115-58FA94ADC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AC43DE-93C7-0CF7-1AEA-555E4B6A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BCDA7E-4107-4648-15CF-73F2F135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868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8BB07-7C51-6974-F2A8-37358A25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2C360C-C5A5-A94A-9248-6E44B20A2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E45993-F563-C1A5-B4CC-00F1BC819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BEECA2-85B2-F436-0486-27A1CB4A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3C209-346B-B8F4-F97B-6B64BE72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29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5C26F-1FA3-8522-CC61-9DC68BE45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F6F111-E4C5-2346-D42D-8189003B2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D6112-7A9D-3CE3-30F5-BE220E4A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46CD06-9EA1-F0E3-5A13-0E5042002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097F00-1628-6F36-F9B0-60AB1A1C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76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A24D1E-2834-FB61-F28E-D8044A4D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D6DFB-6558-6357-FBBF-4D5EA1E0C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FAEF09-4FC1-C50C-7CD4-E9DAA5F60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28DC31-762A-5A58-E596-621CF571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66B408-2772-F873-9E92-E492166E1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B67CDF-3ADA-B3ED-8A35-1FF25CFB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15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A682D-1353-09C6-AEF9-6C5A84C4F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916F5E-1F9A-51F8-6937-648623EAF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D8EF0E-706F-8AC2-74AD-D87A3F99C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F6E554-90FC-CB93-B285-6065CECCF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3A8CC4-AD25-06FA-E4CF-62CB2263E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483A78-2C46-2D19-E7B9-0190AA47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6AE365-7164-FB50-6699-065A4D35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2CB0B2-D0F6-9D7C-D684-56AB098D2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41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FD616-B67A-A697-7F88-9E348FC7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BE4C2C-2164-55E4-1850-5BC474ECC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C1B1B2-4871-F350-9291-1D6A04F3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8FA579-9BD9-EA63-9A71-C4D1514C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503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80924D-FDFC-E21D-A706-53B31973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1B77E9-3D0B-6911-BBE5-EB479795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F93DB2-01AF-C366-261A-34C7C44EC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87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14361-C52E-91E6-F78F-18E42EB7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686EE5-C49D-397E-E532-19981F59E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B733E2-6CC5-1AE1-83D3-51F43A019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B3CA84-8BA3-3066-C0D4-C506DAE35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C43CDA-D2CD-BA0C-656C-564545FC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1280A0-44D7-47A0-62E8-71986BD6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13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46B34-8671-6963-C890-C4580FC6F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23B3D6-227F-B883-2E32-AD778F041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972651-E9FB-E3E2-A7F0-F52814A6F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68EB5-72AB-03E7-CF4A-06882EB60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1A8B46-3DB7-4472-74F5-309B2A40B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728DFB-9314-D807-FCAE-F4AD53475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01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8B9A9-0F7B-C1A3-DDFD-CE1BF3B73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3BEA3C-2F75-16C3-7060-722A10E00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8D8AB-5F47-2F6C-EF0A-C89E4A3E6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F34227-A470-635C-7DDF-39DFB78C4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0FAD31-61BC-B436-B151-C4D444DED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74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78D481-F0C8-F3D7-9D97-BD0907A326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FECFCF-0949-B16D-5616-98D047333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1134BD-E1DC-B249-5363-FEB39D76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A374C-D9BA-C32B-7A19-47F6325C4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AE9725-1875-669B-46B7-86637D47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94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D4599A-4370-7FF4-9EE5-659D6C9BF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E24971-F8D7-9535-A0B0-0B126AEF9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14B0EA-00B4-E547-94F8-8EACF146B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56AC-1F9B-4A48-8CD6-66D5CE0D34A0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CEBF1-68E4-7411-C6FF-8C4B6ECC6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B5C7C0-34B9-1908-5450-F4454EFEF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7D666-5656-4032-A4CB-9ACD85EF1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1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6008447" y="1011912"/>
            <a:ext cx="4818189" cy="273471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75"/>
          </a:p>
        </p:txBody>
      </p:sp>
      <p:sp>
        <p:nvSpPr>
          <p:cNvPr id="9" name="矩形: 圆角 8"/>
          <p:cNvSpPr/>
          <p:nvPr/>
        </p:nvSpPr>
        <p:spPr>
          <a:xfrm>
            <a:off x="2036223" y="1221246"/>
            <a:ext cx="3118784" cy="55999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Initial Study Cohort</a:t>
            </a:r>
            <a:endParaRPr lang="zh-CN" alt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1967899" y="2977301"/>
            <a:ext cx="3272833" cy="5599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Enrolled Study Cohort</a:t>
            </a:r>
            <a:endParaRPr lang="zh-CN" alt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35324" y="1122519"/>
            <a:ext cx="4564434" cy="2433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altLang="zh-CN" sz="115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Inclusion Criteria for Study Participants</a:t>
            </a:r>
            <a:r>
              <a:rPr lang="zh-CN" altLang="en-US" sz="115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</a:p>
          <a:p>
            <a:pPr marL="443690" lvl="1" indent="-170650">
              <a:lnSpc>
                <a:spcPct val="120000"/>
              </a:lnSpc>
              <a:buFont typeface="Wingdings" panose="05000000000000000000" charset="0"/>
              <a:buChar char="u"/>
              <a:defRPr/>
            </a:pPr>
            <a:r>
              <a:rPr lang="en-US" altLang="zh-CN" sz="115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 Patients with radiologically confirmed renal space-occupying lesions (via ultrasound, urological CT, or intravenous urography (IVU)).</a:t>
            </a:r>
          </a:p>
          <a:p>
            <a:pPr marL="443690" lvl="1" indent="-170650">
              <a:lnSpc>
                <a:spcPct val="120000"/>
              </a:lnSpc>
              <a:buFont typeface="Wingdings" panose="05000000000000000000" charset="0"/>
              <a:buChar char="u"/>
              <a:defRPr/>
            </a:pPr>
            <a:r>
              <a:rPr lang="en-US" altLang="zh-CN" sz="115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2. Patients who underwent either laparoscopic partial nephrectomy or radical nephrectomy at our institution, with all surgeries performed by the same experienced chief urologist.</a:t>
            </a:r>
          </a:p>
          <a:p>
            <a:pPr marL="443690" lvl="1" indent="-170650">
              <a:lnSpc>
                <a:spcPct val="120000"/>
              </a:lnSpc>
              <a:buFont typeface="Wingdings" panose="05000000000000000000" charset="0"/>
              <a:buChar char="u"/>
              <a:defRPr/>
            </a:pPr>
            <a:r>
              <a:rPr lang="en-US" altLang="zh-CN" sz="115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Adult patients aged &gt; 18 years.</a:t>
            </a:r>
          </a:p>
          <a:p>
            <a:pPr marL="443690" lvl="1" indent="-170650">
              <a:lnSpc>
                <a:spcPct val="120000"/>
              </a:lnSpc>
              <a:buFont typeface="Wingdings" panose="05000000000000000000" charset="0"/>
              <a:buChar char="u"/>
              <a:defRPr/>
            </a:pPr>
            <a:r>
              <a:rPr lang="en-US" altLang="zh-CN" sz="115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4. Patients who had serum creatinine levels measured at least once preoperatively and within 7 days postoperatively.</a:t>
            </a:r>
          </a:p>
          <a:p>
            <a:pPr marL="443690" lvl="1" indent="-170650">
              <a:lnSpc>
                <a:spcPct val="120000"/>
              </a:lnSpc>
              <a:buFont typeface="Wingdings" panose="05000000000000000000" charset="0"/>
              <a:buChar char="u"/>
              <a:defRPr/>
            </a:pPr>
            <a:r>
              <a:rPr lang="en-US" altLang="zh-CN" sz="115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 Patients with complete baseline clinical data.</a:t>
            </a:r>
            <a:br>
              <a:rPr lang="zh-CN" altLang="en-US" sz="115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</a:br>
            <a:br>
              <a:rPr lang="zh-CN" altLang="en-US" sz="115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</a:br>
            <a:endParaRPr lang="zh-CN" altLang="en-US" sz="1150" dirty="0">
              <a:solidFill>
                <a:sysClr val="windowText" lastClr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cxnSpLocks/>
            <a:stCxn id="9" idx="2"/>
          </p:cNvCxnSpPr>
          <p:nvPr/>
        </p:nvCxnSpPr>
        <p:spPr>
          <a:xfrm>
            <a:off x="3595615" y="1781236"/>
            <a:ext cx="0" cy="119606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任意多边形: 形状 32"/>
          <p:cNvSpPr/>
          <p:nvPr/>
        </p:nvSpPr>
        <p:spPr>
          <a:xfrm>
            <a:off x="2149639" y="1359206"/>
            <a:ext cx="372004" cy="281844"/>
          </a:xfrm>
          <a:custGeom>
            <a:avLst/>
            <a:gdLst>
              <a:gd name="T0" fmla="*/ 4337 w 12863"/>
              <a:gd name="T1" fmla="*/ 6043 h 9924"/>
              <a:gd name="T2" fmla="*/ 4730 w 12863"/>
              <a:gd name="T3" fmla="*/ 5867 h 9924"/>
              <a:gd name="T4" fmla="*/ 4710 w 12863"/>
              <a:gd name="T5" fmla="*/ 5072 h 9924"/>
              <a:gd name="T6" fmla="*/ 4036 w 12863"/>
              <a:gd name="T7" fmla="*/ 1231 h 9924"/>
              <a:gd name="T8" fmla="*/ 3429 w 12863"/>
              <a:gd name="T9" fmla="*/ 1121 h 9924"/>
              <a:gd name="T10" fmla="*/ 3356 w 12863"/>
              <a:gd name="T11" fmla="*/ 1121 h 9924"/>
              <a:gd name="T12" fmla="*/ 1643 w 12863"/>
              <a:gd name="T13" fmla="*/ 3013 h 9924"/>
              <a:gd name="T14" fmla="*/ 2605 w 12863"/>
              <a:gd name="T15" fmla="*/ 5253 h 9924"/>
              <a:gd name="T16" fmla="*/ 2666 w 12863"/>
              <a:gd name="T17" fmla="*/ 5582 h 9924"/>
              <a:gd name="T18" fmla="*/ 2567 w 12863"/>
              <a:gd name="T19" fmla="*/ 5855 h 9924"/>
              <a:gd name="T20" fmla="*/ 67 w 12863"/>
              <a:gd name="T21" fmla="*/ 7713 h 9924"/>
              <a:gd name="T22" fmla="*/ 53 w 12863"/>
              <a:gd name="T23" fmla="*/ 8540 h 9924"/>
              <a:gd name="T24" fmla="*/ 1309 w 12863"/>
              <a:gd name="T25" fmla="*/ 8964 h 9924"/>
              <a:gd name="T26" fmla="*/ 1469 w 12863"/>
              <a:gd name="T27" fmla="*/ 8324 h 9924"/>
              <a:gd name="T28" fmla="*/ 4337 w 12863"/>
              <a:gd name="T29" fmla="*/ 6043 h 9924"/>
              <a:gd name="T30" fmla="*/ 12794 w 12863"/>
              <a:gd name="T31" fmla="*/ 7705 h 9924"/>
              <a:gd name="T32" fmla="*/ 10228 w 12863"/>
              <a:gd name="T33" fmla="*/ 5849 h 9924"/>
              <a:gd name="T34" fmla="*/ 10127 w 12863"/>
              <a:gd name="T35" fmla="*/ 5576 h 9924"/>
              <a:gd name="T36" fmla="*/ 10189 w 12863"/>
              <a:gd name="T37" fmla="*/ 5248 h 9924"/>
              <a:gd name="T38" fmla="*/ 11175 w 12863"/>
              <a:gd name="T39" fmla="*/ 3011 h 9924"/>
              <a:gd name="T40" fmla="*/ 9419 w 12863"/>
              <a:gd name="T41" fmla="*/ 1121 h 9924"/>
              <a:gd name="T42" fmla="*/ 9419 w 12863"/>
              <a:gd name="T43" fmla="*/ 1121 h 9924"/>
              <a:gd name="T44" fmla="*/ 9345 w 12863"/>
              <a:gd name="T45" fmla="*/ 1121 h 9924"/>
              <a:gd name="T46" fmla="*/ 8625 w 12863"/>
              <a:gd name="T47" fmla="*/ 1262 h 9924"/>
              <a:gd name="T48" fmla="*/ 7828 w 12863"/>
              <a:gd name="T49" fmla="*/ 5062 h 9924"/>
              <a:gd name="T50" fmla="*/ 8832 w 12863"/>
              <a:gd name="T51" fmla="*/ 6243 h 9924"/>
              <a:gd name="T52" fmla="*/ 11073 w 12863"/>
              <a:gd name="T53" fmla="*/ 8164 h 9924"/>
              <a:gd name="T54" fmla="*/ 11233 w 12863"/>
              <a:gd name="T55" fmla="*/ 8964 h 9924"/>
              <a:gd name="T56" fmla="*/ 12808 w 12863"/>
              <a:gd name="T57" fmla="*/ 8531 h 9924"/>
              <a:gd name="T58" fmla="*/ 12794 w 12863"/>
              <a:gd name="T59" fmla="*/ 7705 h 9924"/>
              <a:gd name="T60" fmla="*/ 7350 w 12863"/>
              <a:gd name="T61" fmla="*/ 5876 h 9924"/>
              <a:gd name="T62" fmla="*/ 7226 w 12863"/>
              <a:gd name="T63" fmla="*/ 5537 h 9924"/>
              <a:gd name="T64" fmla="*/ 7302 w 12863"/>
              <a:gd name="T65" fmla="*/ 5129 h 9924"/>
              <a:gd name="T66" fmla="*/ 8512 w 12863"/>
              <a:gd name="T67" fmla="*/ 2348 h 9924"/>
              <a:gd name="T68" fmla="*/ 6357 w 12863"/>
              <a:gd name="T69" fmla="*/ 0 h 9924"/>
              <a:gd name="T70" fmla="*/ 6357 w 12863"/>
              <a:gd name="T71" fmla="*/ 0 h 9924"/>
              <a:gd name="T72" fmla="*/ 6266 w 12863"/>
              <a:gd name="T73" fmla="*/ 0 h 9924"/>
              <a:gd name="T74" fmla="*/ 4112 w 12863"/>
              <a:gd name="T75" fmla="*/ 2348 h 9924"/>
              <a:gd name="T76" fmla="*/ 5321 w 12863"/>
              <a:gd name="T77" fmla="*/ 5129 h 9924"/>
              <a:gd name="T78" fmla="*/ 5471 w 12863"/>
              <a:gd name="T79" fmla="*/ 5603 h 9924"/>
              <a:gd name="T80" fmla="*/ 5273 w 12863"/>
              <a:gd name="T81" fmla="*/ 5876 h 9924"/>
              <a:gd name="T82" fmla="*/ 1949 w 12863"/>
              <a:gd name="T83" fmla="*/ 8164 h 9924"/>
              <a:gd name="T84" fmla="*/ 3534 w 12863"/>
              <a:gd name="T85" fmla="*/ 9784 h 9924"/>
              <a:gd name="T86" fmla="*/ 6357 w 12863"/>
              <a:gd name="T87" fmla="*/ 9924 h 9924"/>
              <a:gd name="T88" fmla="*/ 10695 w 12863"/>
              <a:gd name="T89" fmla="*/ 8182 h 9924"/>
              <a:gd name="T90" fmla="*/ 7350 w 12863"/>
              <a:gd name="T91" fmla="*/ 5876 h 99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2863" h="9924">
                <a:moveTo>
                  <a:pt x="4337" y="6043"/>
                </a:moveTo>
                <a:cubicBezTo>
                  <a:pt x="4444" y="6002"/>
                  <a:pt x="4575" y="5965"/>
                  <a:pt x="4730" y="5867"/>
                </a:cubicBezTo>
                <a:cubicBezTo>
                  <a:pt x="4957" y="5725"/>
                  <a:pt x="5131" y="5432"/>
                  <a:pt x="4710" y="5072"/>
                </a:cubicBezTo>
                <a:cubicBezTo>
                  <a:pt x="3318" y="3066"/>
                  <a:pt x="3825" y="1733"/>
                  <a:pt x="4036" y="1231"/>
                </a:cubicBezTo>
                <a:cubicBezTo>
                  <a:pt x="3860" y="1162"/>
                  <a:pt x="3659" y="1121"/>
                  <a:pt x="3429" y="1121"/>
                </a:cubicBezTo>
                <a:lnTo>
                  <a:pt x="3356" y="1121"/>
                </a:lnTo>
                <a:cubicBezTo>
                  <a:pt x="2024" y="1121"/>
                  <a:pt x="1670" y="2333"/>
                  <a:pt x="1643" y="3013"/>
                </a:cubicBezTo>
                <a:cubicBezTo>
                  <a:pt x="1625" y="4616"/>
                  <a:pt x="2605" y="5253"/>
                  <a:pt x="2605" y="5253"/>
                </a:cubicBezTo>
                <a:cubicBezTo>
                  <a:pt x="2605" y="5253"/>
                  <a:pt x="2666" y="5337"/>
                  <a:pt x="2666" y="5582"/>
                </a:cubicBezTo>
                <a:cubicBezTo>
                  <a:pt x="2666" y="5637"/>
                  <a:pt x="2630" y="5804"/>
                  <a:pt x="2567" y="5855"/>
                </a:cubicBezTo>
                <a:cubicBezTo>
                  <a:pt x="2020" y="6298"/>
                  <a:pt x="195" y="6759"/>
                  <a:pt x="67" y="7713"/>
                </a:cubicBezTo>
                <a:cubicBezTo>
                  <a:pt x="0" y="7989"/>
                  <a:pt x="40" y="8275"/>
                  <a:pt x="53" y="8540"/>
                </a:cubicBezTo>
                <a:cubicBezTo>
                  <a:pt x="352" y="8770"/>
                  <a:pt x="1309" y="8964"/>
                  <a:pt x="1309" y="8964"/>
                </a:cubicBezTo>
                <a:cubicBezTo>
                  <a:pt x="1309" y="8964"/>
                  <a:pt x="1388" y="8723"/>
                  <a:pt x="1469" y="8324"/>
                </a:cubicBezTo>
                <a:cubicBezTo>
                  <a:pt x="1588" y="7734"/>
                  <a:pt x="2386" y="6780"/>
                  <a:pt x="4337" y="6043"/>
                </a:cubicBezTo>
                <a:close/>
                <a:moveTo>
                  <a:pt x="12794" y="7705"/>
                </a:moveTo>
                <a:cubicBezTo>
                  <a:pt x="12663" y="6752"/>
                  <a:pt x="10789" y="6291"/>
                  <a:pt x="10228" y="5849"/>
                </a:cubicBezTo>
                <a:cubicBezTo>
                  <a:pt x="10164" y="5798"/>
                  <a:pt x="10127" y="5632"/>
                  <a:pt x="10127" y="5576"/>
                </a:cubicBezTo>
                <a:cubicBezTo>
                  <a:pt x="10127" y="5332"/>
                  <a:pt x="10189" y="5248"/>
                  <a:pt x="10189" y="5248"/>
                </a:cubicBezTo>
                <a:cubicBezTo>
                  <a:pt x="10189" y="5248"/>
                  <a:pt x="11194" y="4611"/>
                  <a:pt x="11175" y="3011"/>
                </a:cubicBezTo>
                <a:cubicBezTo>
                  <a:pt x="11147" y="2332"/>
                  <a:pt x="10724" y="1121"/>
                  <a:pt x="9419" y="1121"/>
                </a:cubicBezTo>
                <a:lnTo>
                  <a:pt x="9419" y="1121"/>
                </a:lnTo>
                <a:lnTo>
                  <a:pt x="9345" y="1121"/>
                </a:lnTo>
                <a:cubicBezTo>
                  <a:pt x="9063" y="1121"/>
                  <a:pt x="8827" y="1175"/>
                  <a:pt x="8625" y="1262"/>
                </a:cubicBezTo>
                <a:cubicBezTo>
                  <a:pt x="8904" y="2197"/>
                  <a:pt x="9240" y="3912"/>
                  <a:pt x="7828" y="5062"/>
                </a:cubicBezTo>
                <a:cubicBezTo>
                  <a:pt x="7274" y="5887"/>
                  <a:pt x="9119" y="6372"/>
                  <a:pt x="8832" y="6243"/>
                </a:cubicBezTo>
                <a:cubicBezTo>
                  <a:pt x="10502" y="6993"/>
                  <a:pt x="10951" y="7569"/>
                  <a:pt x="11073" y="8164"/>
                </a:cubicBezTo>
                <a:cubicBezTo>
                  <a:pt x="11175" y="8660"/>
                  <a:pt x="11233" y="8964"/>
                  <a:pt x="11233" y="8964"/>
                </a:cubicBezTo>
                <a:cubicBezTo>
                  <a:pt x="11233" y="8964"/>
                  <a:pt x="12484" y="8773"/>
                  <a:pt x="12808" y="8531"/>
                </a:cubicBezTo>
                <a:cubicBezTo>
                  <a:pt x="12821" y="8266"/>
                  <a:pt x="12863" y="7980"/>
                  <a:pt x="12794" y="7705"/>
                </a:cubicBezTo>
                <a:close/>
                <a:moveTo>
                  <a:pt x="7350" y="5876"/>
                </a:moveTo>
                <a:cubicBezTo>
                  <a:pt x="7271" y="5813"/>
                  <a:pt x="7226" y="5606"/>
                  <a:pt x="7226" y="5537"/>
                </a:cubicBezTo>
                <a:cubicBezTo>
                  <a:pt x="7226" y="5233"/>
                  <a:pt x="7302" y="5129"/>
                  <a:pt x="7302" y="5129"/>
                </a:cubicBezTo>
                <a:cubicBezTo>
                  <a:pt x="7300" y="5130"/>
                  <a:pt x="8536" y="4461"/>
                  <a:pt x="8512" y="2348"/>
                </a:cubicBezTo>
                <a:cubicBezTo>
                  <a:pt x="8478" y="1505"/>
                  <a:pt x="7958" y="0"/>
                  <a:pt x="6357" y="0"/>
                </a:cubicBezTo>
                <a:lnTo>
                  <a:pt x="6357" y="0"/>
                </a:lnTo>
                <a:lnTo>
                  <a:pt x="6266" y="0"/>
                </a:lnTo>
                <a:cubicBezTo>
                  <a:pt x="4591" y="0"/>
                  <a:pt x="4145" y="1505"/>
                  <a:pt x="4112" y="2348"/>
                </a:cubicBezTo>
                <a:cubicBezTo>
                  <a:pt x="4089" y="4338"/>
                  <a:pt x="5321" y="5129"/>
                  <a:pt x="5321" y="5129"/>
                </a:cubicBezTo>
                <a:cubicBezTo>
                  <a:pt x="5321" y="5129"/>
                  <a:pt x="5471" y="5299"/>
                  <a:pt x="5471" y="5603"/>
                </a:cubicBezTo>
                <a:cubicBezTo>
                  <a:pt x="5471" y="5672"/>
                  <a:pt x="5352" y="5813"/>
                  <a:pt x="5273" y="5876"/>
                </a:cubicBezTo>
                <a:cubicBezTo>
                  <a:pt x="4586" y="6425"/>
                  <a:pt x="2110" y="6980"/>
                  <a:pt x="1949" y="8164"/>
                </a:cubicBezTo>
                <a:cubicBezTo>
                  <a:pt x="1825" y="8666"/>
                  <a:pt x="1090" y="9463"/>
                  <a:pt x="3534" y="9784"/>
                </a:cubicBezTo>
                <a:cubicBezTo>
                  <a:pt x="4207" y="9872"/>
                  <a:pt x="5122" y="9924"/>
                  <a:pt x="6357" y="9924"/>
                </a:cubicBezTo>
                <a:cubicBezTo>
                  <a:pt x="12026" y="9924"/>
                  <a:pt x="10854" y="8826"/>
                  <a:pt x="10695" y="8182"/>
                </a:cubicBezTo>
                <a:cubicBezTo>
                  <a:pt x="10534" y="6998"/>
                  <a:pt x="8038" y="6425"/>
                  <a:pt x="7350" y="5876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5">
              <a:solidFill>
                <a:srgbClr val="002060"/>
              </a:solidFill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2071354" y="3151897"/>
            <a:ext cx="201566" cy="210797"/>
          </a:xfrm>
          <a:custGeom>
            <a:avLst/>
            <a:gdLst>
              <a:gd name="T0" fmla="*/ 4679 w 5850"/>
              <a:gd name="T1" fmla="*/ 4350 h 6469"/>
              <a:gd name="T2" fmla="*/ 3615 w 5850"/>
              <a:gd name="T3" fmla="*/ 3289 h 6469"/>
              <a:gd name="T4" fmla="*/ 3638 w 5850"/>
              <a:gd name="T5" fmla="*/ 3151 h 6469"/>
              <a:gd name="T6" fmla="*/ 3969 w 5850"/>
              <a:gd name="T7" fmla="*/ 2500 h 6469"/>
              <a:gd name="T8" fmla="*/ 4273 w 5850"/>
              <a:gd name="T9" fmla="*/ 1950 h 6469"/>
              <a:gd name="T10" fmla="*/ 4154 w 5850"/>
              <a:gd name="T11" fmla="*/ 1678 h 6469"/>
              <a:gd name="T12" fmla="*/ 4238 w 5850"/>
              <a:gd name="T13" fmla="*/ 1107 h 6469"/>
              <a:gd name="T14" fmla="*/ 2940 w 5850"/>
              <a:gd name="T15" fmla="*/ 0 h 6469"/>
              <a:gd name="T16" fmla="*/ 2925 w 5850"/>
              <a:gd name="T17" fmla="*/ 0 h 6469"/>
              <a:gd name="T18" fmla="*/ 2911 w 5850"/>
              <a:gd name="T19" fmla="*/ 0 h 6469"/>
              <a:gd name="T20" fmla="*/ 1612 w 5850"/>
              <a:gd name="T21" fmla="*/ 1107 h 6469"/>
              <a:gd name="T22" fmla="*/ 1696 w 5850"/>
              <a:gd name="T23" fmla="*/ 1678 h 6469"/>
              <a:gd name="T24" fmla="*/ 1578 w 5850"/>
              <a:gd name="T25" fmla="*/ 1950 h 6469"/>
              <a:gd name="T26" fmla="*/ 1881 w 5850"/>
              <a:gd name="T27" fmla="*/ 2500 h 6469"/>
              <a:gd name="T28" fmla="*/ 2213 w 5850"/>
              <a:gd name="T29" fmla="*/ 3151 h 6469"/>
              <a:gd name="T30" fmla="*/ 2235 w 5850"/>
              <a:gd name="T31" fmla="*/ 3289 h 6469"/>
              <a:gd name="T32" fmla="*/ 1172 w 5850"/>
              <a:gd name="T33" fmla="*/ 4350 h 6469"/>
              <a:gd name="T34" fmla="*/ 0 w 5850"/>
              <a:gd name="T35" fmla="*/ 5141 h 6469"/>
              <a:gd name="T36" fmla="*/ 0 w 5850"/>
              <a:gd name="T37" fmla="*/ 6469 h 6469"/>
              <a:gd name="T38" fmla="*/ 2923 w 5850"/>
              <a:gd name="T39" fmla="*/ 6469 h 6469"/>
              <a:gd name="T40" fmla="*/ 2927 w 5850"/>
              <a:gd name="T41" fmla="*/ 6469 h 6469"/>
              <a:gd name="T42" fmla="*/ 5850 w 5850"/>
              <a:gd name="T43" fmla="*/ 6469 h 6469"/>
              <a:gd name="T44" fmla="*/ 5850 w 5850"/>
              <a:gd name="T45" fmla="*/ 5141 h 6469"/>
              <a:gd name="T46" fmla="*/ 4679 w 5850"/>
              <a:gd name="T47" fmla="*/ 4350 h 64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850" h="6469">
                <a:moveTo>
                  <a:pt x="4679" y="4350"/>
                </a:moveTo>
                <a:cubicBezTo>
                  <a:pt x="3873" y="4059"/>
                  <a:pt x="3615" y="3814"/>
                  <a:pt x="3615" y="3289"/>
                </a:cubicBezTo>
                <a:cubicBezTo>
                  <a:pt x="3615" y="3231"/>
                  <a:pt x="3624" y="3187"/>
                  <a:pt x="3638" y="3151"/>
                </a:cubicBezTo>
                <a:cubicBezTo>
                  <a:pt x="3701" y="2989"/>
                  <a:pt x="3881" y="2971"/>
                  <a:pt x="3969" y="2500"/>
                </a:cubicBezTo>
                <a:cubicBezTo>
                  <a:pt x="4014" y="2260"/>
                  <a:pt x="4231" y="2496"/>
                  <a:pt x="4273" y="1950"/>
                </a:cubicBezTo>
                <a:cubicBezTo>
                  <a:pt x="4273" y="1732"/>
                  <a:pt x="4154" y="1678"/>
                  <a:pt x="4154" y="1678"/>
                </a:cubicBezTo>
                <a:cubicBezTo>
                  <a:pt x="4154" y="1678"/>
                  <a:pt x="4215" y="1355"/>
                  <a:pt x="4238" y="1107"/>
                </a:cubicBezTo>
                <a:cubicBezTo>
                  <a:pt x="4268" y="798"/>
                  <a:pt x="4058" y="0"/>
                  <a:pt x="2940" y="0"/>
                </a:cubicBezTo>
                <a:cubicBezTo>
                  <a:pt x="2935" y="0"/>
                  <a:pt x="2930" y="0"/>
                  <a:pt x="2925" y="0"/>
                </a:cubicBezTo>
                <a:cubicBezTo>
                  <a:pt x="2921" y="0"/>
                  <a:pt x="2916" y="0"/>
                  <a:pt x="2911" y="0"/>
                </a:cubicBezTo>
                <a:cubicBezTo>
                  <a:pt x="1793" y="0"/>
                  <a:pt x="1583" y="798"/>
                  <a:pt x="1612" y="1107"/>
                </a:cubicBezTo>
                <a:cubicBezTo>
                  <a:pt x="1636" y="1355"/>
                  <a:pt x="1696" y="1678"/>
                  <a:pt x="1696" y="1678"/>
                </a:cubicBezTo>
                <a:cubicBezTo>
                  <a:pt x="1696" y="1678"/>
                  <a:pt x="1578" y="1732"/>
                  <a:pt x="1578" y="1950"/>
                </a:cubicBezTo>
                <a:cubicBezTo>
                  <a:pt x="1619" y="2496"/>
                  <a:pt x="1837" y="2260"/>
                  <a:pt x="1881" y="2500"/>
                </a:cubicBezTo>
                <a:cubicBezTo>
                  <a:pt x="1970" y="2971"/>
                  <a:pt x="2150" y="2989"/>
                  <a:pt x="2213" y="3151"/>
                </a:cubicBezTo>
                <a:cubicBezTo>
                  <a:pt x="2227" y="3187"/>
                  <a:pt x="2235" y="3231"/>
                  <a:pt x="2235" y="3289"/>
                </a:cubicBezTo>
                <a:cubicBezTo>
                  <a:pt x="2235" y="3814"/>
                  <a:pt x="1978" y="4059"/>
                  <a:pt x="1172" y="4350"/>
                </a:cubicBezTo>
                <a:cubicBezTo>
                  <a:pt x="364" y="4641"/>
                  <a:pt x="0" y="4938"/>
                  <a:pt x="0" y="5141"/>
                </a:cubicBezTo>
                <a:lnTo>
                  <a:pt x="0" y="6469"/>
                </a:lnTo>
                <a:lnTo>
                  <a:pt x="2923" y="6469"/>
                </a:lnTo>
                <a:lnTo>
                  <a:pt x="2927" y="6469"/>
                </a:lnTo>
                <a:lnTo>
                  <a:pt x="5850" y="6469"/>
                </a:lnTo>
                <a:lnTo>
                  <a:pt x="5850" y="5141"/>
                </a:lnTo>
                <a:cubicBezTo>
                  <a:pt x="5850" y="4938"/>
                  <a:pt x="5487" y="4641"/>
                  <a:pt x="4679" y="435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5" dirty="0"/>
          </a:p>
        </p:txBody>
      </p:sp>
      <p:sp>
        <p:nvSpPr>
          <p:cNvPr id="44" name="矩形: 圆角 43"/>
          <p:cNvSpPr/>
          <p:nvPr/>
        </p:nvSpPr>
        <p:spPr>
          <a:xfrm>
            <a:off x="1574463" y="4795739"/>
            <a:ext cx="1706880" cy="60782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400" b="1" dirty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Patients with AKI</a:t>
            </a:r>
          </a:p>
          <a:p>
            <a:pPr algn="ctr">
              <a:lnSpc>
                <a:spcPct val="120000"/>
              </a:lnSpc>
              <a:defRPr/>
            </a:pPr>
            <a:r>
              <a:rPr lang="en-US" altLang="zh-CN" sz="1400" b="1" dirty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n=132</a:t>
            </a:r>
            <a:endParaRPr lang="zh-CN" altLang="en-US" sz="1400" b="1" dirty="0">
              <a:solidFill>
                <a:srgbClr val="002060"/>
              </a:solidFill>
            </a:endParaRPr>
          </a:p>
        </p:txBody>
      </p:sp>
      <p:cxnSp>
        <p:nvCxnSpPr>
          <p:cNvPr id="60" name="连接符: 肘形 59"/>
          <p:cNvCxnSpPr>
            <a:cxnSpLocks/>
            <a:stCxn id="40" idx="2"/>
            <a:endCxn id="19" idx="0"/>
          </p:cNvCxnSpPr>
          <p:nvPr/>
        </p:nvCxnSpPr>
        <p:spPr>
          <a:xfrm rot="16200000" flipH="1">
            <a:off x="3558464" y="3583142"/>
            <a:ext cx="1258447" cy="116674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2B5E682-5500-A01E-64AF-7E07CB530B4B}"/>
              </a:ext>
            </a:extLst>
          </p:cNvPr>
          <p:cNvSpPr/>
          <p:nvPr/>
        </p:nvSpPr>
        <p:spPr>
          <a:xfrm>
            <a:off x="3823878" y="4795738"/>
            <a:ext cx="1894361" cy="60782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1400" b="1" dirty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Patients without AKI</a:t>
            </a:r>
          </a:p>
          <a:p>
            <a:pPr algn="ctr">
              <a:lnSpc>
                <a:spcPct val="120000"/>
              </a:lnSpc>
              <a:defRPr/>
            </a:pPr>
            <a:r>
              <a:rPr lang="en-US" altLang="zh-CN" sz="1400" b="1" dirty="0">
                <a:solidFill>
                  <a:srgbClr val="00206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n=62</a:t>
            </a:r>
            <a:endParaRPr lang="zh-CN" altLang="en-US" sz="1400" b="1" dirty="0">
              <a:solidFill>
                <a:srgbClr val="002060"/>
              </a:solidFill>
            </a:endParaRPr>
          </a:p>
        </p:txBody>
      </p: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09436590-8C23-D0A2-F9C1-0668376B6731}"/>
              </a:ext>
            </a:extLst>
          </p:cNvPr>
          <p:cNvCxnSpPr>
            <a:cxnSpLocks/>
            <a:stCxn id="40" idx="2"/>
            <a:endCxn id="44" idx="0"/>
          </p:cNvCxnSpPr>
          <p:nvPr/>
        </p:nvCxnSpPr>
        <p:spPr>
          <a:xfrm rot="5400000">
            <a:off x="2386886" y="3578309"/>
            <a:ext cx="1258448" cy="1176413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B2BB1C5A-4376-EC02-9F7F-50B42B0CE89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595615" y="2379268"/>
            <a:ext cx="2412832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A194161A-02A8-A1B6-89A1-6DAE0E9BD5C4}"/>
              </a:ext>
            </a:extLst>
          </p:cNvPr>
          <p:cNvSpPr/>
          <p:nvPr/>
        </p:nvSpPr>
        <p:spPr>
          <a:xfrm>
            <a:off x="914400" y="479685"/>
            <a:ext cx="10470630" cy="57712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115</Words>
  <Application>Microsoft Office PowerPoint</Application>
  <PresentationFormat>宽屏</PresentationFormat>
  <Paragraphs>13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jl z</dc:creator>
  <cp:lastModifiedBy>jl z</cp:lastModifiedBy>
  <cp:revision>21</cp:revision>
  <dcterms:created xsi:type="dcterms:W3CDTF">2025-05-24T04:49:47Z</dcterms:created>
  <dcterms:modified xsi:type="dcterms:W3CDTF">2025-07-14T13:54:00Z</dcterms:modified>
</cp:coreProperties>
</file>